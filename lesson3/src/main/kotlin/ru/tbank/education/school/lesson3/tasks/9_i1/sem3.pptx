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9"/>
  </p:notesMasterIdLst>
  <p:sldIdLst>
    <p:sldId id="835" r:id="rId2"/>
    <p:sldId id="837" r:id="rId3"/>
    <p:sldId id="850" r:id="rId4"/>
    <p:sldId id="846" r:id="rId5"/>
    <p:sldId id="836" r:id="rId6"/>
    <p:sldId id="841" r:id="rId7"/>
    <p:sldId id="842" r:id="rId8"/>
  </p:sldIdLst>
  <p:sldSz cx="19799300" cy="11160125"/>
  <p:notesSz cx="19799300" cy="11160125"/>
  <p:embeddedFontLst>
    <p:embeddedFont>
      <p:font typeface="Tinkoff Sans" panose="02000506050000020004" pitchFamily="2" charset="0"/>
      <p:regular r:id="rId10"/>
      <p:bold r:id="rId11"/>
    </p:embeddedFont>
  </p:embeddedFontLst>
  <p:defaultTextStyle>
    <a:defPPr marL="0" marR="0" indent="0" algn="l" defTabSz="90005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ru-RU"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8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5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1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2DF8AF6-2A87-3145-9D09-616B29C3269E}">
          <p14:sldIdLst/>
        </p14:section>
        <p14:section name="теория" id="{FE05C58F-8341-7341-96BA-48E279C60E78}">
          <p14:sldIdLst>
            <p14:sldId id="835"/>
            <p14:sldId id="837"/>
            <p14:sldId id="850"/>
            <p14:sldId id="846"/>
            <p14:sldId id="836"/>
            <p14:sldId id="841"/>
            <p14:sldId id="842"/>
          </p14:sldIdLst>
        </p14:section>
      </p14:sectionLst>
    </p:ext>
    <p:ext uri="{EFAFB233-063F-42B5-8137-9DF3F51BA10A}">
      <p15:sldGuideLst xmlns:p15="http://schemas.microsoft.com/office/powerpoint/2012/main">
        <p15:guide id="1" pos="6236">
          <p15:clr>
            <a:srgbClr val="A4A3A4"/>
          </p15:clr>
        </p15:guide>
        <p15:guide id="2" orient="horz" pos="351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43FDF-ECDA-34A3-ADE7-C7DA831C0A0E}" name="Пальцева Злата Игоревна" initials="ПЗИ" userId="S::zipaltseva@edu.hse.ru::5bf150a5-51ad-4db6-bc5e-a3cea9dac2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89"/>
    <p:restoredTop sz="94709"/>
  </p:normalViewPr>
  <p:slideViewPr>
    <p:cSldViewPr snapToGrid="0" snapToObjects="1" showGuides="1">
      <p:cViewPr varScale="1">
        <p:scale>
          <a:sx n="43" d="100"/>
          <a:sy n="43" d="100"/>
        </p:scale>
        <p:origin x="288" y="1072"/>
      </p:cViewPr>
      <p:guideLst>
        <p:guide pos="6236"/>
        <p:guide orient="horz"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8D33-A14C-8547-A40C-1E45C1F736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763A5210-706B-0F58-7292-86731141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D4C565B-4923-8F65-5726-FC6F25DC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842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AE47-EC55-45F1-2A89-9C6ABE23BC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9E8EB4D5-125D-F5AF-885F-EC2815769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23334B4-C07D-6CD0-5962-B024DD5343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662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247BC-F35A-3CA4-1C86-8C298761FE2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F055020-0A93-1753-33F7-4BB139C3E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64380EDA-8658-1758-8A14-9BC38AFE20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8885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4262-324B-EDE9-851A-331A179E1E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048457D9-B391-90B6-BEAC-8B692C440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3D9B656-2333-5224-0E9D-FBD0A9DA1A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712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A42D-C033-A9ED-7711-1987ECE321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93A77E0-5B0E-0910-E209-B4FB68D0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B1306929-FD45-A9CB-5862-F2B7B3AFA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268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CD5E-6BDF-2CC3-F4B0-C11511A5A0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0D1D36A-EBC3-C3B5-1079-DD5AFCE06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5AB6DE5-C2D1-08D1-7946-5F122BECAE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739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5DFC-3706-66E7-26D5-46DAD92E46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1DFB1C3B-DA4B-A828-D95C-3277248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FD66F112-037D-AF08-EB72-87A0D4BBD6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45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rcRect t="4375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 amt="29000"/>
          </a:blip>
          <a:srcRect r="9692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Разнообразный и богатый опыт рамки и место обучения кадров позволяет  выполнять важные задания по разработке позиций, занимаемых участниками  в отношении поставленных задач. Таким образом дальнейшее развитие  различных форм деятельности требуют от нас анализа системы обучения  кадров, соответствует насущным потребностям. С другой стороны  консультация с широким активом позволяет оценить значение систем  массового участия. С другой стороны рамки и место обучения кадров требуют  от нас анализа систем массового участия. Таким образом постоянное  информационно-пропагандистское обеспечение нашей деятельности играет  важную роль в формировании позиций, занимаемых участниками в отношении поставленных задач</a:t>
            </a:r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>‹#›</a:t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t>01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02</a:t>
            </a:r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03</a:t>
            </a:r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04</a:t>
            </a:r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специалиста</a:t>
            </a:r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выполнять важные задания по разработке</a:t>
            </a:r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t>Текст на отбивочном слайде вашей 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t>Развитие форм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3</a:t>
            </a:r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4</a:t>
            </a:r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t>1</a:t>
            </a:r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Форм</a:t>
            </a:r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Консультация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75%</a:t>
            </a:r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t>Заголовок слайда  вашей презентации</a:t>
            </a:r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/>
          <a:srcRect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0_Custom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8_Пользовательский макет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EA90A00-812F-4883-5189-55A9CEDDD9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3C0F9BB-2080-562E-96B9-0AEC86CD24B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B90A236-8299-4649-4F58-1D57EDCFC6E6}"/>
              </a:ext>
            </a:extLst>
          </p:cNvPr>
          <p:cNvSpPr txBox="1"/>
          <p:nvPr/>
        </p:nvSpPr>
        <p:spPr bwMode="auto">
          <a:xfrm>
            <a:off x="266920" y="305555"/>
            <a:ext cx="9466359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Принцип разделения интерфейсов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743AE11-8EA9-9784-488F-2F611BA87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2B5A7-922D-6551-2CF7-D5502592357A}"/>
              </a:ext>
            </a:extLst>
          </p:cNvPr>
          <p:cNvSpPr txBox="1"/>
          <p:nvPr/>
        </p:nvSpPr>
        <p:spPr>
          <a:xfrm>
            <a:off x="566062" y="4145639"/>
            <a:ext cx="18774448" cy="161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rtl="0"/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Interface Segregation –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лучше много маленьких и узких интерфейсов, чем один огромный и универсальный, который заставляет клиентов зависеть от методов, которые им не нужны.</a:t>
            </a:r>
          </a:p>
          <a:p>
            <a:endParaRPr lang="en-US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02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EF0C3C-D083-EEDF-0928-BC0CDD801D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A6A2963-3F01-5271-B599-D8B1AA40233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80AFBC6-1188-2489-DF6F-A10AE0F7C3D7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18ADAB25-3C30-FD12-5193-3F9F2E306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AF009-49DF-1B4C-3D8F-2AE6345F8A54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12A90-A9E4-A604-A1F7-560C8E147EB6}"/>
              </a:ext>
            </a:extLst>
          </p:cNvPr>
          <p:cNvSpPr txBox="1"/>
          <p:nvPr/>
        </p:nvSpPr>
        <p:spPr bwMode="auto">
          <a:xfrm>
            <a:off x="8215337" y="3448326"/>
            <a:ext cx="12873512" cy="844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Представь, что у тебя есть </a:t>
            </a:r>
            <a:r>
              <a:rPr lang="ru-RU" b="1" dirty="0"/>
              <a:t>гигантский универсальный пульт</a:t>
            </a:r>
            <a:r>
              <a:rPr lang="ru-RU" dirty="0"/>
              <a:t>:</a:t>
            </a:r>
          </a:p>
          <a:p>
            <a:r>
              <a:rPr lang="ru-RU" dirty="0"/>
              <a:t>включает/выключает телевизор,</a:t>
            </a:r>
          </a:p>
          <a:p>
            <a:r>
              <a:rPr lang="ru-RU" dirty="0"/>
              <a:t>управляет кондиционером,</a:t>
            </a:r>
          </a:p>
          <a:p>
            <a:r>
              <a:rPr lang="ru-RU" dirty="0"/>
              <a:t>включает свет,</a:t>
            </a:r>
          </a:p>
          <a:p>
            <a:r>
              <a:rPr lang="ru-RU" dirty="0"/>
              <a:t>открывает шлагбаум,</a:t>
            </a:r>
          </a:p>
          <a:p>
            <a:r>
              <a:rPr lang="ru-RU" dirty="0"/>
              <a:t>запускает стиральную машину,</a:t>
            </a:r>
          </a:p>
          <a:p>
            <a:r>
              <a:rPr lang="ru-RU" dirty="0"/>
              <a:t>регулирует громкость колонок,</a:t>
            </a:r>
          </a:p>
          <a:p>
            <a:r>
              <a:rPr lang="ru-RU" dirty="0"/>
              <a:t>и ещё 50 кнопок.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AutoShape 2" descr="Более 51 100 работ на тему «пульт дистанционного управления иллюстрации»:  стоковые фото, картинки и изображения royalty-free - iStock">
            <a:extLst>
              <a:ext uri="{FF2B5EF4-FFF2-40B4-BE49-F238E27FC236}">
                <a16:creationId xmlns:a16="http://schemas.microsoft.com/office/drawing/2014/main" id="{F29B185F-064C-929E-12BA-D7F6D98675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47250" y="3206433"/>
            <a:ext cx="2526030" cy="2526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Более 51 100 работ на тему «пульт дистанционного управления иллюстрации»:  стоковые фото, картинки и изображения royalty-free - iStock">
            <a:extLst>
              <a:ext uri="{FF2B5EF4-FFF2-40B4-BE49-F238E27FC236}">
                <a16:creationId xmlns:a16="http://schemas.microsoft.com/office/drawing/2014/main" id="{08756B85-8F05-7C78-7CF6-A279F3A797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47250" y="54276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Векторная иллюстрация панели управления телевизором | Премиум вектор">
            <a:extLst>
              <a:ext uri="{FF2B5EF4-FFF2-40B4-BE49-F238E27FC236}">
                <a16:creationId xmlns:a16="http://schemas.microsoft.com/office/drawing/2014/main" id="{3315AA06-480E-A3B4-B9E7-6D46C0A74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81" y="3981927"/>
            <a:ext cx="4572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0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AC57FD5-AA2A-49E0-4B06-E5521C75867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04FC60C2-C13D-27FC-0671-96335A88A27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9E2054EF-8E08-C641-92F7-73EEBC73A761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02871DB-C3CB-44F0-1E96-C407432EF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2B90C-4422-34CF-232A-A20110A724E6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5DE9C-33FC-C90C-E6C7-DFA927134C49}"/>
              </a:ext>
            </a:extLst>
          </p:cNvPr>
          <p:cNvSpPr txBox="1"/>
          <p:nvPr/>
        </p:nvSpPr>
        <p:spPr bwMode="auto">
          <a:xfrm>
            <a:off x="6334407" y="3455681"/>
            <a:ext cx="12873512" cy="844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А тебе дома нужен </a:t>
            </a:r>
            <a:r>
              <a:rPr lang="ru-RU" b="1" dirty="0"/>
              <a:t>только</a:t>
            </a:r>
            <a:r>
              <a:rPr lang="ru-RU" dirty="0"/>
              <a:t>:</a:t>
            </a:r>
          </a:p>
          <a:p>
            <a:r>
              <a:rPr lang="ru-RU" dirty="0"/>
              <a:t>пульт от телевизора,</a:t>
            </a:r>
          </a:p>
          <a:p>
            <a:r>
              <a:rPr lang="ru-RU" dirty="0"/>
              <a:t>маленький пульт от колонки.</a:t>
            </a:r>
          </a:p>
          <a:p>
            <a:endParaRPr lang="ru-RU" dirty="0"/>
          </a:p>
          <a:p>
            <a:r>
              <a:rPr lang="ru-RU" dirty="0"/>
              <a:t>Если всем выдают </a:t>
            </a:r>
            <a:r>
              <a:rPr lang="ru-RU" b="1" dirty="0"/>
              <a:t>один и тот же огромный пульт</a:t>
            </a:r>
            <a:r>
              <a:rPr lang="ru-RU" dirty="0"/>
              <a:t>, то:</a:t>
            </a:r>
          </a:p>
          <a:p>
            <a:r>
              <a:rPr lang="ru-RU" dirty="0"/>
              <a:t>бабушка путается и случайно выключает кондиционер,</a:t>
            </a:r>
          </a:p>
          <a:p>
            <a:r>
              <a:rPr lang="ru-RU" dirty="0"/>
              <a:t>маленький брат лезет в шлагбаум,</a:t>
            </a:r>
          </a:p>
          <a:p>
            <a:r>
              <a:rPr lang="ru-RU" dirty="0"/>
              <a:t>половина кнопок </a:t>
            </a:r>
            <a:r>
              <a:rPr lang="ru-RU" b="1" dirty="0"/>
              <a:t>никому не нужна</a:t>
            </a:r>
            <a:r>
              <a:rPr lang="ru-RU" dirty="0"/>
              <a:t>, но всем приходится их терпеть.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AutoShape 2" descr="Более 51 100 работ на тему «пульт дистанционного управления иллюстрации»:  стоковые фото, картинки и изображения royalty-free - iStock">
            <a:extLst>
              <a:ext uri="{FF2B5EF4-FFF2-40B4-BE49-F238E27FC236}">
                <a16:creationId xmlns:a16="http://schemas.microsoft.com/office/drawing/2014/main" id="{5FBEE8AB-250E-0E29-B682-93AB10A3E1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47250" y="3206433"/>
            <a:ext cx="2526030" cy="2526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Более 51 100 работ на тему «пульт дистанционного управления иллюстрации»:  стоковые фото, картинки и изображения royalty-free - iStock">
            <a:extLst>
              <a:ext uri="{FF2B5EF4-FFF2-40B4-BE49-F238E27FC236}">
                <a16:creationId xmlns:a16="http://schemas.microsoft.com/office/drawing/2014/main" id="{B5B9EEDC-E729-E1A9-119C-51A945EA39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47250" y="54276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Векторная иллюстрация панели управления телевизором | Премиум вектор">
            <a:extLst>
              <a:ext uri="{FF2B5EF4-FFF2-40B4-BE49-F238E27FC236}">
                <a16:creationId xmlns:a16="http://schemas.microsoft.com/office/drawing/2014/main" id="{2190E4FA-E2F8-CFB9-330B-4E38F2903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81" y="3981927"/>
            <a:ext cx="4572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8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8298D41-30AE-E395-7BFE-E564094FDA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0EF9766-5B58-3EDE-78E2-1F78B294F9EC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F8DB6CF-5B89-7B3B-2E83-FCC2C4E0062E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92E9F191-9A97-D8BC-5E10-ACB9C04FE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1FA44-1002-BE69-38C6-EC91B3008F88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94C678-7D51-F93C-CE53-C3A7437C8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78" y="4482099"/>
            <a:ext cx="7772400" cy="42619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8D477D-02CE-CBF5-67A1-D0B7F21B0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650" y="4482099"/>
            <a:ext cx="8774607" cy="42619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BC7D64-5193-CFE7-510B-8943BEB1A62D}"/>
              </a:ext>
            </a:extLst>
          </p:cNvPr>
          <p:cNvSpPr txBox="1"/>
          <p:nvPr/>
        </p:nvSpPr>
        <p:spPr bwMode="auto">
          <a:xfrm>
            <a:off x="896478" y="8996756"/>
            <a:ext cx="12873512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Универсальное устройство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532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0D61F-64F4-2C13-F7BD-E25417DEF7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6E05D0D-2AB8-96B0-B7A8-99018EA168B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320EAEC-F052-321A-D596-3B773D8908F5}"/>
              </a:ext>
            </a:extLst>
          </p:cNvPr>
          <p:cNvSpPr txBox="1"/>
          <p:nvPr/>
        </p:nvSpPr>
        <p:spPr bwMode="auto">
          <a:xfrm>
            <a:off x="214440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Условие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9732F9E-0D6E-57BA-00EA-8D607FA89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E1BC4-0EB0-61AF-9A3C-842FB8C3A3B3}"/>
              </a:ext>
            </a:extLst>
          </p:cNvPr>
          <p:cNvSpPr txBox="1"/>
          <p:nvPr/>
        </p:nvSpPr>
        <p:spPr bwMode="auto">
          <a:xfrm>
            <a:off x="6436174" y="5580062"/>
            <a:ext cx="11102340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скрин и рассказываем что вам дано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39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774A9-3974-851E-A877-B3FBC2FFE3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E9B7A80-E6AB-3B88-F6D0-B962382E85C8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BAD4BB3-AE45-9666-8EDD-F17C8E8189E8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Проблемы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E8302A22-0DE8-57AD-74C3-779167482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6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CB7EB-CCE5-D47E-999C-0C13C708DB26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8D993-7497-618A-CDCB-0C66BC03DBE5}"/>
              </a:ext>
            </a:extLst>
          </p:cNvPr>
          <p:cNvSpPr txBox="1"/>
          <p:nvPr/>
        </p:nvSpPr>
        <p:spPr bwMode="auto">
          <a:xfrm>
            <a:off x="4390971" y="5580062"/>
            <a:ext cx="13355506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проблемные места (лучше скринами) и что с ними не так 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8807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2E7E1D-A29F-B532-8FEC-C9EC38F580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F8A0F2E-BA84-B29F-9FF2-CC078361BA5E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0E80120-1F8D-A619-80D8-51F96053050A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0E5CDCE-616E-1D1C-2FFA-B089EBBA6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7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878D1-06BF-24EB-516F-BDAC5CCE9A7C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5BFAC-73C3-70E3-831E-11D8B9DBF7CC}"/>
              </a:ext>
            </a:extLst>
          </p:cNvPr>
          <p:cNvSpPr txBox="1"/>
          <p:nvPr/>
        </p:nvSpPr>
        <p:spPr bwMode="auto">
          <a:xfrm>
            <a:off x="3672047" y="5580062"/>
            <a:ext cx="15134270" cy="4727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то как вы решили проблемы (скринами) и почему выбрали такое решение</a:t>
            </a:r>
            <a:r>
              <a:rPr lang="en-US" b="1" dirty="0"/>
              <a:t>. </a:t>
            </a:r>
          </a:p>
          <a:p>
            <a:r>
              <a:rPr lang="ru-RU" b="1" dirty="0"/>
              <a:t>ВАЖНО уметь ответить вопрос ПОЧЕМУ</a:t>
            </a:r>
            <a:r>
              <a:rPr lang="en-US" b="1" dirty="0"/>
              <a:t>.</a:t>
            </a:r>
          </a:p>
          <a:p>
            <a:r>
              <a:rPr lang="ru-RU" b="1" dirty="0"/>
              <a:t>Можете не успеть все проблемы решить – это </a:t>
            </a:r>
            <a:r>
              <a:rPr lang="ru-RU" b="1" dirty="0" err="1"/>
              <a:t>ок</a:t>
            </a:r>
            <a:r>
              <a:rPr lang="en-US" b="1" dirty="0"/>
              <a:t>.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2622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</TotalTime>
  <Words>396</Words>
  <Application>Microsoft Macintosh PowerPoint</Application>
  <DocSecurity>0</DocSecurity>
  <PresentationFormat>Произвольный</PresentationFormat>
  <Paragraphs>65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Tinkoff Sans</vt:lpstr>
      <vt:lpstr>Wingdings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Пальцева Злата Игоревна</cp:lastModifiedBy>
  <cp:revision>693</cp:revision>
  <dcterms:modified xsi:type="dcterms:W3CDTF">2025-11-19T23:12:51Z</dcterms:modified>
  <cp:category/>
  <dc:identifier/>
  <cp:contentStatus/>
  <dc:language/>
  <cp:version/>
</cp:coreProperties>
</file>